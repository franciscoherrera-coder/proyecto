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F07D3D-8369-4BCC-A4E5-0C9F3CE60A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85299B-CC73-4A1F-ABFC-EA678AF434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DC64F8-D696-4829-97B3-4A148E3FB8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887236-EE1E-4A3B-8FC0-90B7196EDF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013D50-F53C-4AB3-96DB-B80DC2FE92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5AE5C0-5E49-4202-A149-380596C7DC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B999C0-E61A-4E07-9E0D-310ACBBA98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A1E598-B9F9-4687-A36B-4419EBD420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C09D58-69AA-4DB0-BE3D-703465C79E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6095BE-526D-443A-B90C-A3D55772E7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1D59A8-2AB8-4176-AD47-AB00E320E8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3F5214-B28A-4458-BFBA-2C6136305C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8857221-E861-4F21-B9A4-43F723E9D9A3}" type="slidenum"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84000" y="612000"/>
            <a:ext cx="252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400" spc="-1" strike="noStrike">
                <a:solidFill>
                  <a:srgbClr val="f3c5c5"/>
                </a:solidFill>
                <a:latin typeface="Aptos"/>
              </a:rPr>
              <a:t>ISFT N°38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84000" y="1152000"/>
            <a:ext cx="684000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4400" spc="-1" strike="noStrike">
                <a:solidFill>
                  <a:srgbClr val="ffffff"/>
                </a:solidFill>
                <a:latin typeface="Aptos"/>
              </a:rPr>
              <a:t>Sistema de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s-AR" sz="4400" spc="-1" strike="noStrike">
                <a:solidFill>
                  <a:srgbClr val="ffffff"/>
                </a:solidFill>
                <a:latin typeface="Aptos"/>
              </a:rPr>
              <a:t>Asistencia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20000" y="2736000"/>
            <a:ext cx="7560000" cy="32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2000" spc="-1" strike="noStrike">
                <a:solidFill>
                  <a:srgbClr val="cdd5df"/>
                </a:solidFill>
                <a:latin typeface="Aptos"/>
              </a:rPr>
              <a:t>Recorrido visual por perfiles y funciones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20000" y="3114000"/>
            <a:ext cx="864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300" spc="-1" strike="noStrike">
                <a:solidFill>
                  <a:srgbClr val="aeb8c5"/>
                </a:solidFill>
                <a:latin typeface="Aptos"/>
              </a:rPr>
              <a:t>Experiencia del alumno, profesor, preceptor y administración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20000" y="4032000"/>
            <a:ext cx="1728000" cy="273600"/>
          </a:xfrm>
          <a:prstGeom prst="rect">
            <a:avLst/>
          </a:prstGeom>
          <a:solidFill>
            <a:srgbClr val="e8eef8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2f5d9b"/>
                </a:solidFill>
                <a:latin typeface="Aptos"/>
              </a:rPr>
              <a:t>ALUMNO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592000" y="4032000"/>
            <a:ext cx="1872000" cy="273600"/>
          </a:xfrm>
          <a:prstGeom prst="rect">
            <a:avLst/>
          </a:prstGeom>
          <a:solidFill>
            <a:srgbClr val="e4f7e8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16733a"/>
                </a:solidFill>
                <a:latin typeface="Aptos"/>
              </a:rPr>
              <a:t>PROFESOR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08000" y="4032000"/>
            <a:ext cx="2016000" cy="273600"/>
          </a:xfrm>
          <a:prstGeom prst="rect">
            <a:avLst/>
          </a:prstGeom>
          <a:solidFill>
            <a:srgbClr val="f8e7e7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800000"/>
                </a:solidFill>
                <a:latin typeface="Aptos"/>
              </a:rPr>
              <a:t>PRECEPTOR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768000" y="4032000"/>
            <a:ext cx="2592000" cy="273600"/>
          </a:xfrm>
          <a:prstGeom prst="rect">
            <a:avLst/>
          </a:prstGeom>
          <a:solidFill>
            <a:srgbClr val="eee8f7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5b3b86"/>
                </a:solidFill>
                <a:latin typeface="Aptos"/>
              </a:rPr>
              <a:t>ADMINISTRACIÓN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720000" y="6156000"/>
            <a:ext cx="54000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100" spc="-1" strike="noStrike">
                <a:solidFill>
                  <a:srgbClr val="8f9bab"/>
                </a:solidFill>
                <a:latin typeface="Aptos"/>
              </a:rPr>
              <a:t>Presentación funcional · Octubre 2026</a:t>
            </a: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PANORAMA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Una plataforma, cuatro experiencias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02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32000" y="1512000"/>
            <a:ext cx="2520000" cy="3672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32000" y="1512000"/>
            <a:ext cx="2520000" cy="324000"/>
          </a:xfrm>
          <a:prstGeom prst="rect">
            <a:avLst/>
          </a:prstGeom>
          <a:solidFill>
            <a:srgbClr val="2f5d9b"/>
          </a:solidFill>
          <a:ln w="0">
            <a:solidFill>
              <a:srgbClr val="2f5d9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94000" y="1692000"/>
            <a:ext cx="2196000" cy="30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2f5d9b"/>
                </a:solidFill>
                <a:latin typeface="Aptos"/>
              </a:rPr>
              <a:t>ALUMNO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94000" y="2340000"/>
            <a:ext cx="2196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Consulta materias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Escanea QR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Revisa porcentaje e historial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94000" y="4536000"/>
            <a:ext cx="21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000" spc="-1" strike="noStrike">
                <a:solidFill>
                  <a:srgbClr val="5e6b7a"/>
                </a:solidFill>
                <a:latin typeface="Aptos"/>
              </a:rPr>
              <a:t>Vista personal y acciones según permisos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3348000" y="1512000"/>
            <a:ext cx="2520000" cy="3672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348000" y="1512000"/>
            <a:ext cx="2520000" cy="324000"/>
          </a:xfrm>
          <a:prstGeom prst="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510000" y="1692000"/>
            <a:ext cx="2196000" cy="30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16733a"/>
                </a:solidFill>
                <a:latin typeface="Aptos"/>
              </a:rPr>
              <a:t>PROFESOR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510000" y="2340000"/>
            <a:ext cx="2196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Gestiona alumnos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Toma asistencia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Analiza porcentajes y listados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510000" y="4536000"/>
            <a:ext cx="21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000" spc="-1" strike="noStrike">
                <a:solidFill>
                  <a:srgbClr val="5e6b7a"/>
                </a:solidFill>
                <a:latin typeface="Aptos"/>
              </a:rPr>
              <a:t>Vista personal y acciones según permisos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264000" y="1512000"/>
            <a:ext cx="2520000" cy="3672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264000" y="1512000"/>
            <a:ext cx="2520000" cy="324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426000" y="1692000"/>
            <a:ext cx="2196000" cy="30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800000"/>
                </a:solidFill>
                <a:latin typeface="Aptos"/>
              </a:rPr>
              <a:t>PRECEPTOR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426000" y="2340000"/>
            <a:ext cx="2196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Valida profesores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Asigna materias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Supervisa cursos y alumnos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426000" y="4536000"/>
            <a:ext cx="21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000" spc="-1" strike="noStrike">
                <a:solidFill>
                  <a:srgbClr val="5e6b7a"/>
                </a:solidFill>
                <a:latin typeface="Aptos"/>
              </a:rPr>
              <a:t>Vista personal y acciones según permisos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180000" y="1512000"/>
            <a:ext cx="2520000" cy="3672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180000" y="1512000"/>
            <a:ext cx="2520000" cy="324000"/>
          </a:xfrm>
          <a:prstGeom prst="rect">
            <a:avLst/>
          </a:prstGeom>
          <a:solidFill>
            <a:srgbClr val="5b3b86"/>
          </a:solidFill>
          <a:ln w="0">
            <a:solidFill>
              <a:srgbClr val="5b3b8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9342000" y="1692000"/>
            <a:ext cx="2196000" cy="30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5b3b86"/>
                </a:solidFill>
                <a:latin typeface="Aptos"/>
              </a:rPr>
              <a:t>ADMIN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9342000" y="2340000"/>
            <a:ext cx="2196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Administra preceptores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Configura carreras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AR" sz="1600" spc="-1" strike="noStrike">
                <a:solidFill>
                  <a:srgbClr val="172033"/>
                </a:solidFill>
                <a:latin typeface="Aptos"/>
              </a:rPr>
              <a:t>Controla asignaciones globales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9342000" y="4536000"/>
            <a:ext cx="2196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000" spc="-1" strike="noStrike">
                <a:solidFill>
                  <a:srgbClr val="5e6b7a"/>
                </a:solidFill>
                <a:latin typeface="Aptos"/>
              </a:rPr>
              <a:t>Vista personal y acciones según permisos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ALUMNO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Mis materias y acceso por QR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03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75200" y="1134000"/>
            <a:ext cx="7632000" cy="5299920"/>
          </a:xfrm>
          <a:prstGeom prst="roundRect">
            <a:avLst/>
          </a:prstGeom>
          <a:solidFill>
            <a:srgbClr val="dde2e8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432000" y="1080000"/>
            <a:ext cx="7632000" cy="529992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 txBox="1"/>
          <p:nvPr/>
        </p:nvSpPr>
        <p:spPr>
          <a:xfrm>
            <a:off x="9000000" y="270000"/>
            <a:ext cx="2520000" cy="273600"/>
          </a:xfrm>
          <a:prstGeom prst="rect">
            <a:avLst/>
          </a:prstGeom>
          <a:solidFill>
            <a:srgbClr val="e8eef8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2f5d9b"/>
                </a:solidFill>
                <a:latin typeface="Aptos"/>
              </a:rPr>
              <a:t>Alumno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8460000" y="1152000"/>
            <a:ext cx="3168000" cy="486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e0e4e9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8460000" y="1152000"/>
            <a:ext cx="57600" cy="4860000"/>
          </a:xfrm>
          <a:prstGeom prst="rect">
            <a:avLst/>
          </a:prstGeom>
          <a:solidFill>
            <a:srgbClr val="2f5d9b"/>
          </a:solidFill>
          <a:ln w="0">
            <a:solidFill>
              <a:srgbClr val="2f5d9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658000" y="1350000"/>
            <a:ext cx="2808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101827"/>
                </a:solidFill>
                <a:latin typeface="Aptos"/>
              </a:rPr>
              <a:t>Lo que puede hacer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8658000" y="1897200"/>
            <a:ext cx="61200" cy="61200"/>
          </a:xfrm>
          <a:prstGeom prst="roundRect">
            <a:avLst/>
          </a:prstGeom>
          <a:solidFill>
            <a:srgbClr val="2f5d9b"/>
          </a:solidFill>
          <a:ln w="0">
            <a:solidFill>
              <a:srgbClr val="2f5d9b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802000" y="1836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Ver únicamente las materias validadas por sus profesores.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8658000" y="2581200"/>
            <a:ext cx="61200" cy="61200"/>
          </a:xfrm>
          <a:prstGeom prst="roundRect">
            <a:avLst/>
          </a:prstGeom>
          <a:solidFill>
            <a:srgbClr val="2f5d9b"/>
          </a:solidFill>
          <a:ln w="0">
            <a:solidFill>
              <a:srgbClr val="2f5d9b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802000" y="2520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Ingresar al detalle de cada materia.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8658000" y="3265200"/>
            <a:ext cx="61200" cy="61200"/>
          </a:xfrm>
          <a:prstGeom prst="roundRect">
            <a:avLst/>
          </a:prstGeom>
          <a:solidFill>
            <a:srgbClr val="2f5d9b"/>
          </a:solidFill>
          <a:ln w="0">
            <a:solidFill>
              <a:srgbClr val="2f5d9b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802000" y="3204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Escanear el código QR para registrar su asistencia.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ALUMNO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Seguimiento personal de asistencia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04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475200" y="1134000"/>
            <a:ext cx="7632000" cy="5299920"/>
          </a:xfrm>
          <a:prstGeom prst="roundRect">
            <a:avLst/>
          </a:prstGeom>
          <a:solidFill>
            <a:srgbClr val="dde2e8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432000" y="1080000"/>
            <a:ext cx="7632000" cy="5299920"/>
          </a:xfrm>
          <a:prstGeom prst="rect">
            <a:avLst/>
          </a:prstGeom>
          <a:ln w="0">
            <a:noFill/>
          </a:ln>
        </p:spPr>
      </p:pic>
      <p:sp>
        <p:nvSpPr>
          <p:cNvPr id="106" name=""/>
          <p:cNvSpPr txBox="1"/>
          <p:nvPr/>
        </p:nvSpPr>
        <p:spPr>
          <a:xfrm>
            <a:off x="9000000" y="270000"/>
            <a:ext cx="2520000" cy="273600"/>
          </a:xfrm>
          <a:prstGeom prst="rect">
            <a:avLst/>
          </a:prstGeom>
          <a:solidFill>
            <a:srgbClr val="e8eef8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2f5d9b"/>
                </a:solidFill>
                <a:latin typeface="Aptos"/>
              </a:rPr>
              <a:t>Alumno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460000" y="1152000"/>
            <a:ext cx="3168000" cy="486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e0e4e9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8460000" y="1152000"/>
            <a:ext cx="57600" cy="4860000"/>
          </a:xfrm>
          <a:prstGeom prst="rect">
            <a:avLst/>
          </a:prstGeom>
          <a:solidFill>
            <a:srgbClr val="2f5d9b"/>
          </a:solidFill>
          <a:ln w="0">
            <a:solidFill>
              <a:srgbClr val="2f5d9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658000" y="1350000"/>
            <a:ext cx="2808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101827"/>
                </a:solidFill>
                <a:latin typeface="Aptos"/>
              </a:rPr>
              <a:t>Información disponible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658000" y="1897200"/>
            <a:ext cx="61200" cy="61200"/>
          </a:xfrm>
          <a:prstGeom prst="roundRect">
            <a:avLst/>
          </a:prstGeom>
          <a:solidFill>
            <a:srgbClr val="2f5d9b"/>
          </a:solidFill>
          <a:ln w="0">
            <a:solidFill>
              <a:srgbClr val="2f5d9b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802000" y="1836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Porcentaje general y presencias computadas.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658000" y="2581200"/>
            <a:ext cx="61200" cy="61200"/>
          </a:xfrm>
          <a:prstGeom prst="roundRect">
            <a:avLst/>
          </a:prstGeom>
          <a:solidFill>
            <a:srgbClr val="2f5d9b"/>
          </a:solidFill>
          <a:ln w="0">
            <a:solidFill>
              <a:srgbClr val="2f5d9b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8802000" y="2520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Totales de presentes, ausentes, tardanzas y justificadas.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8658000" y="3265200"/>
            <a:ext cx="61200" cy="61200"/>
          </a:xfrm>
          <a:prstGeom prst="roundRect">
            <a:avLst/>
          </a:prstGeom>
          <a:solidFill>
            <a:srgbClr val="2f5d9b"/>
          </a:solidFill>
          <a:ln w="0">
            <a:solidFill>
              <a:srgbClr val="2f5d9b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8802000" y="3204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Historial completo, fecha por fecha, con estado y motivo.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PROFESOR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Materia, curso y alumnos asignados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05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475200" y="1134000"/>
            <a:ext cx="7632000" cy="5299920"/>
          </a:xfrm>
          <a:prstGeom prst="roundRect">
            <a:avLst/>
          </a:prstGeom>
          <a:solidFill>
            <a:srgbClr val="dde2e8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432000" y="1080000"/>
            <a:ext cx="7632000" cy="5299920"/>
          </a:xfrm>
          <a:prstGeom prst="rect">
            <a:avLst/>
          </a:prstGeom>
          <a:ln w="0">
            <a:noFill/>
          </a:ln>
        </p:spPr>
      </p:pic>
      <p:sp>
        <p:nvSpPr>
          <p:cNvPr id="124" name=""/>
          <p:cNvSpPr txBox="1"/>
          <p:nvPr/>
        </p:nvSpPr>
        <p:spPr>
          <a:xfrm>
            <a:off x="9000000" y="270000"/>
            <a:ext cx="2520000" cy="273600"/>
          </a:xfrm>
          <a:prstGeom prst="rect">
            <a:avLst/>
          </a:prstGeom>
          <a:solidFill>
            <a:srgbClr val="e4f7e8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16733a"/>
                </a:solidFill>
                <a:latin typeface="Aptos"/>
              </a:rPr>
              <a:t>Profesor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8460000" y="1152000"/>
            <a:ext cx="3168000" cy="486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e0e4e9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8460000" y="1152000"/>
            <a:ext cx="57600" cy="4860000"/>
          </a:xfrm>
          <a:prstGeom prst="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8658000" y="1350000"/>
            <a:ext cx="2808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101827"/>
                </a:solidFill>
                <a:latin typeface="Aptos"/>
              </a:rPr>
              <a:t>Gestión docente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8658000" y="1897200"/>
            <a:ext cx="61200" cy="61200"/>
          </a:xfrm>
          <a:prstGeom prst="round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802000" y="1836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Consulta la nómina de estudiantes de la materia.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8658000" y="2581200"/>
            <a:ext cx="61200" cy="61200"/>
          </a:xfrm>
          <a:prstGeom prst="round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802000" y="2520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Suma o quita alumnos según corresponda.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8658000" y="3265200"/>
            <a:ext cx="61200" cy="61200"/>
          </a:xfrm>
          <a:prstGeom prst="round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8802000" y="3204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Accede a planilla diaria, porcentajes y listado imprimible.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PROFESOR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Carga de asistencia diaria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06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475200" y="1134000"/>
            <a:ext cx="7632000" cy="5299920"/>
          </a:xfrm>
          <a:prstGeom prst="roundRect">
            <a:avLst/>
          </a:prstGeom>
          <a:solidFill>
            <a:srgbClr val="dde2e8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432000" y="1080000"/>
            <a:ext cx="7632000" cy="5299920"/>
          </a:xfrm>
          <a:prstGeom prst="rect">
            <a:avLst/>
          </a:prstGeom>
          <a:ln w="0">
            <a:noFill/>
          </a:ln>
        </p:spPr>
      </p:pic>
      <p:sp>
        <p:nvSpPr>
          <p:cNvPr id="142" name=""/>
          <p:cNvSpPr txBox="1"/>
          <p:nvPr/>
        </p:nvSpPr>
        <p:spPr>
          <a:xfrm>
            <a:off x="9000000" y="270000"/>
            <a:ext cx="2520000" cy="273600"/>
          </a:xfrm>
          <a:prstGeom prst="rect">
            <a:avLst/>
          </a:prstGeom>
          <a:solidFill>
            <a:srgbClr val="e4f7e8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16733a"/>
                </a:solidFill>
                <a:latin typeface="Aptos"/>
              </a:rPr>
              <a:t>Profesor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8460000" y="1152000"/>
            <a:ext cx="3168000" cy="486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e0e4e9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8460000" y="1152000"/>
            <a:ext cx="57600" cy="4860000"/>
          </a:xfrm>
          <a:prstGeom prst="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8658000" y="1350000"/>
            <a:ext cx="2808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101827"/>
                </a:solidFill>
                <a:latin typeface="Aptos"/>
              </a:rPr>
              <a:t>Registro de la clase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8658000" y="1897200"/>
            <a:ext cx="61200" cy="61200"/>
          </a:xfrm>
          <a:prstGeom prst="round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8802000" y="1836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Selecciona la fecha de cursada.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8658000" y="2581200"/>
            <a:ext cx="61200" cy="61200"/>
          </a:xfrm>
          <a:prstGeom prst="round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8802000" y="2520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Marca presente, ausente, tarde o justificado.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8658000" y="3265200"/>
            <a:ext cx="61200" cy="61200"/>
          </a:xfrm>
          <a:prstGeom prst="round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8802000" y="3204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Registra motivos de justificación y puede imprimir la planilla.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PROFESOR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Porcentajes y detección de riesgo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07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475200" y="1134000"/>
            <a:ext cx="7632000" cy="5299920"/>
          </a:xfrm>
          <a:prstGeom prst="roundRect">
            <a:avLst/>
          </a:prstGeom>
          <a:solidFill>
            <a:srgbClr val="dde2e8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432000" y="1080000"/>
            <a:ext cx="7632000" cy="529992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 txBox="1"/>
          <p:nvPr/>
        </p:nvSpPr>
        <p:spPr>
          <a:xfrm>
            <a:off x="9000000" y="270000"/>
            <a:ext cx="2520000" cy="273600"/>
          </a:xfrm>
          <a:prstGeom prst="rect">
            <a:avLst/>
          </a:prstGeom>
          <a:solidFill>
            <a:srgbClr val="e4f7e8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16733a"/>
                </a:solidFill>
                <a:latin typeface="Aptos"/>
              </a:rPr>
              <a:t>Profesor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460000" y="1152000"/>
            <a:ext cx="3168000" cy="486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e0e4e9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8460000" y="1152000"/>
            <a:ext cx="57600" cy="4860000"/>
          </a:xfrm>
          <a:prstGeom prst="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8658000" y="1350000"/>
            <a:ext cx="2808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101827"/>
                </a:solidFill>
                <a:latin typeface="Aptos"/>
              </a:rPr>
              <a:t>Control académico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8658000" y="1897200"/>
            <a:ext cx="61200" cy="61200"/>
          </a:xfrm>
          <a:prstGeom prst="round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8802000" y="1836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Visualiza el porcentaje individual de cada estudiante.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8658000" y="2581200"/>
            <a:ext cx="61200" cy="61200"/>
          </a:xfrm>
          <a:prstGeom prst="round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8802000" y="2520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Filtra alumnos por debajo de un límite elegido.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8658000" y="3265200"/>
            <a:ext cx="61200" cy="61200"/>
          </a:xfrm>
          <a:prstGeom prst="round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8802000" y="3204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Compara presencias, clases y justificaciones.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PRECEPTOR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Validación docente por carrera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08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75200" y="1134000"/>
            <a:ext cx="7632000" cy="5299920"/>
          </a:xfrm>
          <a:prstGeom prst="roundRect">
            <a:avLst/>
          </a:prstGeom>
          <a:solidFill>
            <a:srgbClr val="dde2e8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432000" y="1080000"/>
            <a:ext cx="7632000" cy="5299920"/>
          </a:xfrm>
          <a:prstGeom prst="rect">
            <a:avLst/>
          </a:prstGeom>
          <a:ln w="0">
            <a:noFill/>
          </a:ln>
        </p:spPr>
      </p:pic>
      <p:sp>
        <p:nvSpPr>
          <p:cNvPr id="178" name=""/>
          <p:cNvSpPr txBox="1"/>
          <p:nvPr/>
        </p:nvSpPr>
        <p:spPr>
          <a:xfrm>
            <a:off x="9000000" y="270000"/>
            <a:ext cx="2520000" cy="273600"/>
          </a:xfrm>
          <a:prstGeom prst="rect">
            <a:avLst/>
          </a:prstGeom>
          <a:solidFill>
            <a:srgbClr val="f8e7e7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800000"/>
                </a:solidFill>
                <a:latin typeface="Aptos"/>
              </a:rPr>
              <a:t>Preceptor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8460000" y="1152000"/>
            <a:ext cx="3168000" cy="486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e0e4e9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8460000" y="1152000"/>
            <a:ext cx="57600" cy="4860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8658000" y="1350000"/>
            <a:ext cx="2808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101827"/>
                </a:solidFill>
                <a:latin typeface="Aptos"/>
              </a:rPr>
              <a:t>Alcance del preceptor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8658000" y="1897200"/>
            <a:ext cx="61200" cy="61200"/>
          </a:xfrm>
          <a:prstGeom prst="round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8802000" y="1836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Trabaja dentro de la carrera que tiene asignada.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8658000" y="2581200"/>
            <a:ext cx="61200" cy="61200"/>
          </a:xfrm>
          <a:prstGeom prst="round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8802000" y="2520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Valida profesores habilitados.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8658000" y="3265200"/>
            <a:ext cx="61200" cy="61200"/>
          </a:xfrm>
          <a:prstGeom prst="round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8802000" y="3204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Administra las materias asociadas a cada docente.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PRECEPTOR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Supervisión de una materia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09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475200" y="1134000"/>
            <a:ext cx="7632000" cy="5299920"/>
          </a:xfrm>
          <a:prstGeom prst="roundRect">
            <a:avLst/>
          </a:prstGeom>
          <a:solidFill>
            <a:srgbClr val="dde2e8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" descr=""/>
          <p:cNvPicPr/>
          <p:nvPr/>
        </p:nvPicPr>
        <p:blipFill>
          <a:blip r:embed="rId1"/>
          <a:stretch/>
        </p:blipFill>
        <p:spPr>
          <a:xfrm>
            <a:off x="432000" y="1080000"/>
            <a:ext cx="7632000" cy="5299920"/>
          </a:xfrm>
          <a:prstGeom prst="rect">
            <a:avLst/>
          </a:prstGeom>
          <a:ln w="0">
            <a:noFill/>
          </a:ln>
        </p:spPr>
      </p:pic>
      <p:sp>
        <p:nvSpPr>
          <p:cNvPr id="196" name=""/>
          <p:cNvSpPr txBox="1"/>
          <p:nvPr/>
        </p:nvSpPr>
        <p:spPr>
          <a:xfrm>
            <a:off x="9000000" y="270000"/>
            <a:ext cx="2520000" cy="273600"/>
          </a:xfrm>
          <a:prstGeom prst="rect">
            <a:avLst/>
          </a:prstGeom>
          <a:solidFill>
            <a:srgbClr val="f8e7e7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800000"/>
                </a:solidFill>
                <a:latin typeface="Aptos"/>
              </a:rPr>
              <a:t>Preceptor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8460000" y="1152000"/>
            <a:ext cx="3168000" cy="486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e0e4e9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8460000" y="1152000"/>
            <a:ext cx="57600" cy="4860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658000" y="1350000"/>
            <a:ext cx="2808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101827"/>
                </a:solidFill>
                <a:latin typeface="Aptos"/>
              </a:rPr>
              <a:t>Vista de control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8658000" y="1897200"/>
            <a:ext cx="61200" cy="61200"/>
          </a:xfrm>
          <a:prstGeom prst="round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8802000" y="1836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Consulta carrera, año, profesor y cantidad de alumnos.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8658000" y="2581200"/>
            <a:ext cx="61200" cy="61200"/>
          </a:xfrm>
          <a:prstGeom prst="round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802000" y="2520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Revisa el listado nominal del curso.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8658000" y="3265200"/>
            <a:ext cx="61200" cy="61200"/>
          </a:xfrm>
          <a:prstGeom prst="round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8802000" y="3204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Supervisa porcentaje y presencias sin cargar la planilla docente.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ADMINISTRACIÓN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Gestión central de preceptores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10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475200" y="1134000"/>
            <a:ext cx="7632000" cy="5299920"/>
          </a:xfrm>
          <a:prstGeom prst="roundRect">
            <a:avLst/>
          </a:prstGeom>
          <a:solidFill>
            <a:srgbClr val="dde2e8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432000" y="1080000"/>
            <a:ext cx="7632000" cy="5299920"/>
          </a:xfrm>
          <a:prstGeom prst="rect">
            <a:avLst/>
          </a:prstGeom>
          <a:ln w="0">
            <a:noFill/>
          </a:ln>
        </p:spPr>
      </p:pic>
      <p:sp>
        <p:nvSpPr>
          <p:cNvPr id="214" name=""/>
          <p:cNvSpPr txBox="1"/>
          <p:nvPr/>
        </p:nvSpPr>
        <p:spPr>
          <a:xfrm>
            <a:off x="9000000" y="270000"/>
            <a:ext cx="2520000" cy="273600"/>
          </a:xfrm>
          <a:prstGeom prst="rect">
            <a:avLst/>
          </a:prstGeom>
          <a:solidFill>
            <a:srgbClr val="eee8f7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5b3b86"/>
                </a:solidFill>
                <a:latin typeface="Aptos"/>
              </a:rPr>
              <a:t>Administración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8460000" y="1152000"/>
            <a:ext cx="3168000" cy="486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e0e4e9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8460000" y="1152000"/>
            <a:ext cx="57600" cy="4860000"/>
          </a:xfrm>
          <a:prstGeom prst="rect">
            <a:avLst/>
          </a:prstGeom>
          <a:solidFill>
            <a:srgbClr val="5b3b86"/>
          </a:solidFill>
          <a:ln w="0">
            <a:solidFill>
              <a:srgbClr val="5b3b8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8658000" y="1350000"/>
            <a:ext cx="2808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101827"/>
                </a:solidFill>
                <a:latin typeface="Aptos"/>
              </a:rPr>
              <a:t>Administración general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8658000" y="1897200"/>
            <a:ext cx="61200" cy="61200"/>
          </a:xfrm>
          <a:prstGeom prst="roundRect">
            <a:avLst/>
          </a:prstGeom>
          <a:solidFill>
            <a:srgbClr val="5b3b86"/>
          </a:solidFill>
          <a:ln w="0">
            <a:solidFill>
              <a:srgbClr val="5b3b86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8802000" y="1836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Crea accesos para nuevos preceptores.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8658000" y="2581200"/>
            <a:ext cx="61200" cy="61200"/>
          </a:xfrm>
          <a:prstGeom prst="roundRect">
            <a:avLst/>
          </a:prstGeom>
          <a:solidFill>
            <a:srgbClr val="5b3b86"/>
          </a:solidFill>
          <a:ln w="0">
            <a:solidFill>
              <a:srgbClr val="5b3b86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8802000" y="2520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Asigna una o varias carreras a cada preceptor.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8658000" y="3265200"/>
            <a:ext cx="61200" cy="61200"/>
          </a:xfrm>
          <a:prstGeom prst="roundRect">
            <a:avLst/>
          </a:prstGeom>
          <a:solidFill>
            <a:srgbClr val="5b3b86"/>
          </a:solidFill>
          <a:ln w="0">
            <a:solidFill>
              <a:srgbClr val="5b3b86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8802000" y="3204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Mantiene una visión global de la estructura institucional.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ADMINISTRACIÓN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Asignaciones y configuración global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11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475200" y="1134000"/>
            <a:ext cx="7632000" cy="5299920"/>
          </a:xfrm>
          <a:prstGeom prst="roundRect">
            <a:avLst/>
          </a:prstGeom>
          <a:solidFill>
            <a:srgbClr val="dde2e8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1"/>
          <a:stretch/>
        </p:blipFill>
        <p:spPr>
          <a:xfrm>
            <a:off x="432000" y="1080000"/>
            <a:ext cx="7632000" cy="5299920"/>
          </a:xfrm>
          <a:prstGeom prst="rect">
            <a:avLst/>
          </a:prstGeom>
          <a:ln w="0">
            <a:noFill/>
          </a:ln>
        </p:spPr>
      </p:pic>
      <p:sp>
        <p:nvSpPr>
          <p:cNvPr id="232" name=""/>
          <p:cNvSpPr txBox="1"/>
          <p:nvPr/>
        </p:nvSpPr>
        <p:spPr>
          <a:xfrm>
            <a:off x="9000000" y="270000"/>
            <a:ext cx="2520000" cy="273600"/>
          </a:xfrm>
          <a:prstGeom prst="rect">
            <a:avLst/>
          </a:prstGeom>
          <a:solidFill>
            <a:srgbClr val="eee8f7"/>
          </a:solidFill>
          <a:ln w="0">
            <a:noFill/>
          </a:ln>
        </p:spPr>
        <p:txBody>
          <a:bodyPr lIns="32400" rIns="32400" tIns="32400" bIns="32400" anchor="b">
            <a:noAutofit/>
          </a:bodyPr>
          <a:p>
            <a:pPr algn="ctr"/>
            <a:r>
              <a:rPr b="1" lang="es-AR" sz="1200" spc="-1" strike="noStrike">
                <a:solidFill>
                  <a:srgbClr val="5b3b86"/>
                </a:solidFill>
                <a:latin typeface="Aptos"/>
              </a:rPr>
              <a:t>Administración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8460000" y="1152000"/>
            <a:ext cx="3168000" cy="486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e0e4e9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8460000" y="1152000"/>
            <a:ext cx="57600" cy="4860000"/>
          </a:xfrm>
          <a:prstGeom prst="rect">
            <a:avLst/>
          </a:prstGeom>
          <a:solidFill>
            <a:srgbClr val="5b3b86"/>
          </a:solidFill>
          <a:ln w="0">
            <a:solidFill>
              <a:srgbClr val="5b3b8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8658000" y="1350000"/>
            <a:ext cx="2808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101827"/>
                </a:solidFill>
                <a:latin typeface="Aptos"/>
              </a:rPr>
              <a:t>Operaciones disponibles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8658000" y="1897200"/>
            <a:ext cx="61200" cy="61200"/>
          </a:xfrm>
          <a:prstGeom prst="roundRect">
            <a:avLst/>
          </a:prstGeom>
          <a:solidFill>
            <a:srgbClr val="5b3b86"/>
          </a:solidFill>
          <a:ln w="0">
            <a:solidFill>
              <a:srgbClr val="5b3b86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8802000" y="1836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Asigna alumnos a materias.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8658000" y="2581200"/>
            <a:ext cx="61200" cy="61200"/>
          </a:xfrm>
          <a:prstGeom prst="roundRect">
            <a:avLst/>
          </a:prstGeom>
          <a:solidFill>
            <a:srgbClr val="5b3b86"/>
          </a:solidFill>
          <a:ln w="0">
            <a:solidFill>
              <a:srgbClr val="5b3b86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8802000" y="2520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Busca y filtra materias por carrera y año.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8658000" y="3265200"/>
            <a:ext cx="61200" cy="61200"/>
          </a:xfrm>
          <a:prstGeom prst="roundRect">
            <a:avLst/>
          </a:prstGeom>
          <a:solidFill>
            <a:srgbClr val="5b3b86"/>
          </a:solidFill>
          <a:ln w="0">
            <a:solidFill>
              <a:srgbClr val="5b3b86"/>
            </a:solidFill>
          </a:ln>
        </p:spPr>
        <p:txBody>
          <a:bodyPr lIns="90000" rIns="90000" tIns="16200" bIns="162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8802000" y="3204000"/>
            <a:ext cx="2646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400" spc="-1" strike="noStrike">
                <a:solidFill>
                  <a:srgbClr val="172033"/>
                </a:solidFill>
                <a:latin typeface="Aptos"/>
              </a:rPr>
              <a:t>Consulta profesores, listados y configuración de cada curso.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6f8"/>
          </a:solidFill>
          <a:ln w="0">
            <a:solidFill>
              <a:srgbClr val="f4f6f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0" y="0"/>
            <a:ext cx="187200" cy="6858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32000" y="234000"/>
            <a:ext cx="2520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000" spc="-1" strike="noStrike">
                <a:solidFill>
                  <a:srgbClr val="800000"/>
                </a:solidFill>
                <a:latin typeface="Aptos"/>
              </a:rPr>
              <a:t>RESUMEN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32000" y="378000"/>
            <a:ext cx="1080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2600" spc="-1" strike="noStrike">
                <a:solidFill>
                  <a:srgbClr val="101827"/>
                </a:solidFill>
                <a:latin typeface="Aptos"/>
              </a:rPr>
              <a:t>Funciones principales por rol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432000" y="856800"/>
            <a:ext cx="11160000" cy="7200"/>
          </a:xfrm>
          <a:prstGeom prst="rect">
            <a:avLst/>
          </a:prstGeom>
          <a:solidFill>
            <a:srgbClr val="d8dde4"/>
          </a:solidFill>
          <a:ln w="0">
            <a:solidFill>
              <a:srgbClr val="d8dde4"/>
            </a:solidFill>
          </a:ln>
        </p:spPr>
        <p:txBody>
          <a:bodyPr lIns="90000" rIns="90000" tIns="-37800" bIns="-378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32000" y="6588000"/>
            <a:ext cx="11160000" cy="1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900" spc="-1" strike="noStrike">
                <a:solidFill>
                  <a:srgbClr val="5e6b7a"/>
                </a:solidFill>
                <a:latin typeface="Aptos"/>
              </a:rPr>
              <a:t>ISFT N°38  ·  Sistema de Asistencia                                      12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900000" y="1368000"/>
            <a:ext cx="10260000" cy="90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900000" y="1368000"/>
            <a:ext cx="1872000" cy="900000"/>
          </a:xfrm>
          <a:prstGeom prst="rect">
            <a:avLst/>
          </a:prstGeom>
          <a:solidFill>
            <a:srgbClr val="2f5d9b"/>
          </a:solidFill>
          <a:ln w="0">
            <a:solidFill>
              <a:srgbClr val="2f5d9b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026000" y="1566000"/>
            <a:ext cx="162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ffffff"/>
                </a:solidFill>
                <a:latin typeface="Aptos"/>
              </a:rPr>
              <a:t>Alumno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2988000" y="1584000"/>
            <a:ext cx="77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700" spc="-1" strike="noStrike">
                <a:solidFill>
                  <a:srgbClr val="172033"/>
                </a:solidFill>
                <a:latin typeface="Aptos"/>
              </a:rPr>
              <a:t>Materias · QR · porcentaje · historial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900000" y="2448000"/>
            <a:ext cx="10260000" cy="90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900000" y="2448000"/>
            <a:ext cx="1872000" cy="900000"/>
          </a:xfrm>
          <a:prstGeom prst="rect">
            <a:avLst/>
          </a:prstGeom>
          <a:solidFill>
            <a:srgbClr val="16733a"/>
          </a:solidFill>
          <a:ln w="0">
            <a:solidFill>
              <a:srgbClr val="16733a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026000" y="2646000"/>
            <a:ext cx="162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ffffff"/>
                </a:solidFill>
                <a:latin typeface="Aptos"/>
              </a:rPr>
              <a:t>Profesor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2988000" y="2664000"/>
            <a:ext cx="77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700" spc="-1" strike="noStrike">
                <a:solidFill>
                  <a:srgbClr val="172033"/>
                </a:solidFill>
                <a:latin typeface="Aptos"/>
              </a:rPr>
              <a:t>Alumnos · planilla diaria · porcentajes · listados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900000" y="3528000"/>
            <a:ext cx="10260000" cy="90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900000" y="3528000"/>
            <a:ext cx="1872000" cy="900000"/>
          </a:xfrm>
          <a:prstGeom prst="rect">
            <a:avLst/>
          </a:prstGeom>
          <a:solidFill>
            <a:srgbClr val="800000"/>
          </a:solidFill>
          <a:ln w="0">
            <a:solidFill>
              <a:srgbClr val="800000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026000" y="3726000"/>
            <a:ext cx="162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ffffff"/>
                </a:solidFill>
                <a:latin typeface="Aptos"/>
              </a:rPr>
              <a:t>Preceptor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988000" y="3744000"/>
            <a:ext cx="77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700" spc="-1" strike="noStrike">
                <a:solidFill>
                  <a:srgbClr val="172033"/>
                </a:solidFill>
                <a:latin typeface="Aptos"/>
              </a:rPr>
              <a:t>Validación docente · asignación de materias · supervisión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900000" y="4608000"/>
            <a:ext cx="10260000" cy="900000"/>
          </a:xfrm>
          <a:prstGeom prst="roundRect">
            <a:avLst/>
          </a:prstGeom>
          <a:solidFill>
            <a:srgbClr val="ffffff"/>
          </a:solidFill>
          <a:ln w="0">
            <a:solidFill>
              <a:srgbClr val="dde2e8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900000" y="4608000"/>
            <a:ext cx="1872000" cy="900000"/>
          </a:xfrm>
          <a:prstGeom prst="rect">
            <a:avLst/>
          </a:prstGeom>
          <a:solidFill>
            <a:srgbClr val="5b3b86"/>
          </a:solidFill>
          <a:ln w="0">
            <a:solidFill>
              <a:srgbClr val="5b3b86"/>
            </a:solidFill>
          </a:ln>
        </p:spPr>
        <p:txBody>
          <a:bodyPr lIns="90000" rIns="90000" tIns="45000" bIns="45000" anchor="ctr" anchorCtr="1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026000" y="4806000"/>
            <a:ext cx="1620000" cy="53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s-AR" sz="1800" spc="-1" strike="noStrike">
                <a:solidFill>
                  <a:srgbClr val="ffffff"/>
                </a:solidFill>
                <a:latin typeface="Aptos"/>
              </a:rPr>
              <a:t>Administración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2988000" y="4824000"/>
            <a:ext cx="77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AR" sz="1700" spc="-1" strike="noStrike">
                <a:solidFill>
                  <a:srgbClr val="172033"/>
                </a:solidFill>
                <a:latin typeface="Aptos"/>
              </a:rPr>
              <a:t>Preceptores · carreras · usuarios · configuración global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900000" y="5832000"/>
            <a:ext cx="10260000" cy="44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s-AR" sz="1500" spc="-1" strike="noStrike">
                <a:solidFill>
                  <a:srgbClr val="101827"/>
                </a:solidFill>
                <a:latin typeface="Aptos"/>
              </a:rPr>
              <a:t>El sistema concentra la asistencia en una sola herramienta y muestra a cada perfil solamente las acciones que necesita.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LibreOffice/7.4.7.2$Windows_X86_64 LibreOffice_project/723314e595e8007d3cf785c16538505a1c878ca5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2026-10-21T17:56:31Z</dcterms:created>
  <dc:creator>ISFT N°38</dc:creator>
  <dc:description/>
  <dc:language>es-AR</dc:language>
  <cp:lastModifiedBy/>
  <dcterms:modified xsi:type="dcterms:W3CDTF">2026-10-21T17:56:36Z</dcterms:modified>
  <cp:revision>1</cp:revision>
  <dc:subject>Recorrido visual para alumno, profesor, preceptor y administración</dc:subject>
  <dc:title>Sistema de Asistencia - Roles y funciones</dc:title>
</cp:coreProperties>
</file>